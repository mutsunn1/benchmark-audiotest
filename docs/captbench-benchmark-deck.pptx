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误收率 FAR</c:v>
                </c:pt>
              </c:strCache>
            </c:strRef>
          </c:tx>
          <c:spPr>
            <a:solidFill>
              <a:srgbClr val="3F7D5A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500" u="none">
                    <a:solidFill>
                      <a:srgbClr val="2D3E50"/>
                    </a:solidFill>
                    <a:latin typeface="Cambria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F7D5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F7D5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23A33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传统 CAPT</c:v>
                  </c:pt>
                  <c:pt idx="1">
                    <c:v>Omni open</c:v>
                  </c:pt>
                  <c:pt idx="2">
                    <c:v>Omni scripted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</c:v>
                </c:pt>
                <c:pt idx="1">
                  <c:v>3.8</c:v>
                </c:pt>
                <c:pt idx="2">
                  <c:v>50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500" u="none">
                  <a:solidFill>
                    <a:srgbClr val="2D3E50"/>
                  </a:solidFill>
                  <a:latin typeface="Cambria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D3E50"/>
                </a:solidFill>
                <a:latin typeface="Heiti S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</c:scaling>
        <c:delete val="0"/>
        <c:axPos val="b"/>
        <c:majorGridlines>
          <c:spPr>
            <a:ln w="12700" cap="flat">
              <a:solidFill>
                <a:srgbClr val="D8DC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Cambria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开场：这不是一次文献综述，是把调研报告里的两条技术路线真的搭起来跑了一遍。
一句话结论先放这儿：报告说的'语言先验脑补纠正'是可复现的，Omni 放过错误的比例是传统引擎的 2.4 到 3.2 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把报告的定性论断转成一个能测的量：误收率。后面每一页都在回答这一个问题。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三个要点：
1. 真值靠构造，不靠标注，所以能算出准确率。
2. learner/teacher 必须分开录音，这是整个基准有效性的前提。
3. 声母组用物理线索（谱重心判平翘舌、VOT 判送气），韵母组用 F3 判圆唇、F3-F2 收敛判前后鼻音。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两边面对的是同一批音频、同一个评测集，唯一变量是评分方法。
三档提示词是本次实验设计的核心：只跑 scripted 的话，'模型没听清'和'模型顺从了提示词'长得一模一样。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全场最关键的一页。误收率 = 读错的音频被判成正确的比例。
同一个模型、同一批音频，只是提示词里多写了一行目标文本：误收率 3.8% -&gt; 50.0%，13 倍。
而且 open 档的误收率（3.8%）比传统引擎（6.0%）还低——说明模型本身听得很好，是提示词把它带偏了。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准确率、误收率、声调识别三项 Omni open 都赢；错误定位传统引擎赢。分工很清楚。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最干净的一组证据。陷阱句误收率随提示词信息量单调上升：0% -&gt; 25% -&gt; 100%。
注意传统引擎也是 0%，但它的对照句误拒率是 100%——它是靠'什么都判错'换来的低误收，不是真本事。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报告里说 Omni「有幻觉风险和延迟成本」，这次量化了：声调 30% 的概率给出不同答案，延迟差 100 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这是我觉得最有价值的意外发现。传统引擎跨说话人掉了 24 个点，误拒率从 22.5% 涨到 75%。
查了原因不是 bug：Ethan 这个音色的孤立字声调实现本身区分度就低。
结论：'声学引擎做 CT' 的前提是参考发音本身够标准。这个前提报告里没提。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四条结论。第 2 条是这次最反直觉的：问题不在模型能力，在提示词设计。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把边界讲清楚，结论才可信。特别强调：这不是真实学习者语料，传统引擎也不是商业引擎。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417320"/>
            <a:ext cx="182880" cy="18288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1014984" y="13898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E8A33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技术汇报  ·  2026-09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965960"/>
            <a:ext cx="108200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中文口语评测基准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85800" y="297180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9C0C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传统声学 CAPT 引擎  vs  Qwen-Omni 直接评分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85800" y="42519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124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85800" y="48280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29B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条构造性真值语料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434840" y="42519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13×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434840" y="48280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29B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提示词带来的误收率倍数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183880" y="42519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0.01s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8183880" y="48280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29B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传统引擎中位延迟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5989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github.com/mutsunn1/benchmark-audiotest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98348"/>
            <a:ext cx="118872" cy="11887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905256" y="45720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160" kern="0" dirty="0">
                <a:solidFill>
                  <a:srgbClr val="6B728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背景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85800" y="749808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3E5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要检验的断言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19659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E5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调研报告的论断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2450592"/>
            <a:ext cx="5029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325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D3E5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专业引擎用强制对齐 + GOP 算对数后验概率比，剥离高层语义，只测物理量</a:t>
            </a:r>
            <a:endParaRPr lang="en-US" sz="1550" dirty="0"/>
          </a:p>
          <a:p>
            <a:pPr marL="342900" indent="-342900">
              <a:lnSpc>
                <a:spcPts val="2325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D3E5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Omni 模型带强语言先验，会把不标准发音「脑补」成合理的词，漏检率升高</a:t>
            </a:r>
            <a:endParaRPr lang="en-US" sz="1550" dirty="0"/>
          </a:p>
          <a:p>
            <a:pPr marL="342900" indent="-342900">
              <a:lnSpc>
                <a:spcPts val="2325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D3E5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业界走向级联：声学引擎做 CT，Omni 做主治医生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309360" y="1965960"/>
            <a:ext cx="5166360" cy="3566160"/>
          </a:xfrm>
          <a:prstGeom prst="roundRect">
            <a:avLst>
              <a:gd name="adj" fmla="val 2051"/>
            </a:avLst>
          </a:prstGeom>
          <a:solidFill>
            <a:srgbClr val="FDF3E2"/>
          </a:solidFill>
          <a:ln w="12700">
            <a:solidFill>
              <a:srgbClr val="EFD9A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29400" y="22402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6B1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可检验的预测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629400" y="2743200"/>
            <a:ext cx="4526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900" dirty="0">
                <a:solidFill>
                  <a:srgbClr val="6B4A1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若「语言先验脑补纠正」成立，则 Omni 的误收率应显著高于传统引擎。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629400" y="411480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A6B1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误收率 = 把错误发音判成正确的比例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59436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注意：本基准比的是「能否区分范畴替换」，不是「能否给出口音分数」。见末页局限。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98348"/>
            <a:ext cx="118872" cy="11887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905256" y="45720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160" kern="0" dirty="0">
                <a:solidFill>
                  <a:srgbClr val="6B728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方法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85800" y="749808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3E5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怎么造出带真值的语料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最小对立对构造替换：同一音色朗读对立对的另一侧，真值由构造保证，不需要人工标注。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2148840"/>
            <a:ext cx="178308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8DC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31343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应该说的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260604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D3E5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妈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85800" y="344728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F7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mā  T1 阴平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834640" y="2148840"/>
            <a:ext cx="178308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8DC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0" y="231343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实际说的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834640" y="260604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D3E5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麻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2834640" y="344728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23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má  T2 阳平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468880" y="269748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6B728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→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800600" y="28346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23A3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判为错误 · 维度＝声调 · T1→T2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909560" y="219456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2D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124</a:t>
            </a:r>
            <a:endParaRPr lang="en-US" sz="5200" dirty="0"/>
          </a:p>
        </p:txBody>
      </p:sp>
      <p:sp>
        <p:nvSpPr>
          <p:cNvPr id="17" name="Text 15"/>
          <p:cNvSpPr/>
          <p:nvPr/>
        </p:nvSpPr>
        <p:spPr>
          <a:xfrm>
            <a:off x="7909560" y="30632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E5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条计分条目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909560" y="332841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40 正确 / 84 错误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829800" y="219456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2D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5200" dirty="0"/>
          </a:p>
        </p:txBody>
      </p:sp>
      <p:sp>
        <p:nvSpPr>
          <p:cNvPr id="20" name="Text 18"/>
          <p:cNvSpPr/>
          <p:nvPr/>
        </p:nvSpPr>
        <p:spPr>
          <a:xfrm>
            <a:off x="9829800" y="3063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E5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类对立组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829800" y="332841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声调·声母·韵母·整句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5800" y="4343400"/>
            <a:ext cx="10835640" cy="1417320"/>
          </a:xfrm>
          <a:prstGeom prst="roundRect">
            <a:avLst>
              <a:gd name="adj" fmla="val 5161"/>
            </a:avLst>
          </a:prstGeom>
          <a:solidFill>
            <a:srgbClr val="EDF3EE"/>
          </a:solidFill>
          <a:ln w="12700">
            <a:solidFill>
              <a:srgbClr val="C8DC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4553712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45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关键设计：learner / teacher 双轨录音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05840" y="4873752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5594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每条文本合成两条录音：learner 是被评测的，teacher 是作对照的标准发音。两条必须不是同一份录音——否则所有 DTW 比对恒为 0 距离、全部判对，基准会自我恭维。（实测中踩到过：macOS say 会把语速量化到粗档位，160 和 180 渲染出字节相同的音频。）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98348"/>
            <a:ext cx="118872" cy="11887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905256" y="45720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160" kern="0" dirty="0">
                <a:solidFill>
                  <a:srgbClr val="6B728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系统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85800" y="749808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3E5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两条路线，同一批音频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157276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3E5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传统 CAPT 引擎（自研，按报告第 2–3 节）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33272" y="20116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E5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预加重 0.97 → 25ms 汉明窗 / 10ms 帧移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4871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33272" y="24871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E5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26 梅尔滤波器 → 39 维 MFCC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29626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33272" y="296265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E5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Praat 自相关基频跟踪 F0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34381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33272" y="343814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E5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模板 DTW 强制对齐 → 音节 [ts, te]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" y="39136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33272" y="39136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E5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石锋五度 T 值归一化 → 声调原型 DTW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" y="4389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33272" y="43891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E5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段音物理线索：谱重心 / VOT / F3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" y="51206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i="1" dirty="0">
                <a:solidFill>
                  <a:srgbClr val="6B728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测的是物理量：对数后验概率比、T 值轨迹、嗓音起始时间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92240" y="157276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3E5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Qwen-Omni（qwen3.5-omni-flash）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92240" y="2011680"/>
            <a:ext cx="49834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DC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93408" y="21214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863840" y="212140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3E5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「转写你听到的音节」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693408" y="243230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纯感知能力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92240" y="2980944"/>
            <a:ext cx="49834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DC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93408" y="30906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863840" y="30906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3E5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只给交际场景，不给目标文本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693408" y="34015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语义是否拉偏转写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92240" y="3950208"/>
            <a:ext cx="49834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DC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93408" y="405993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scripted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863840" y="405993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3E5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给出目标文本，问发音对不对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693408" y="43708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标准 CAPT 场景，陷阱在此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492240" y="51206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i="1" dirty="0">
                <a:solidFill>
                  <a:srgbClr val="6B728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三档跑同一段音频：才能区分「没听清」和「听清了但顺从提示词」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98348"/>
            <a:ext cx="118872" cy="11887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905256" y="45720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160" kern="0" dirty="0">
                <a:solidFill>
                  <a:srgbClr val="6B728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结果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85800" y="749808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3E5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同一个模型，只差提示词里的一行字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14630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同说话人条件，124 条语料。两次运行用的是同一个模型、同一批音频，唯一差别是 scripted 档的提示词里写了目标文本。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85800" y="1874520"/>
          <a:ext cx="63093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7635240" y="196596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3F7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3.8%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7635240" y="2834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E5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Omni open 误收率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635240" y="309981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不给目标文本时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635240" y="388620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B23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50.0%</a:t>
            </a:r>
            <a:endParaRPr lang="en-US" sz="5200" dirty="0"/>
          </a:p>
        </p:txBody>
      </p:sp>
      <p:sp>
        <p:nvSpPr>
          <p:cNvPr id="11" name="Text 8"/>
          <p:cNvSpPr/>
          <p:nvPr/>
        </p:nvSpPr>
        <p:spPr>
          <a:xfrm>
            <a:off x="7635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E5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Omni scripted 误收率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635240" y="502005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给出目标文本时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635240" y="553212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D3E5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声调识别率同步从 75.0% 掉到 23.3%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D3E5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——提示词里的目标文本污染了它的感知。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98348"/>
            <a:ext cx="118872" cy="11887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905256" y="45720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160" kern="0" dirty="0">
                <a:solidFill>
                  <a:srgbClr val="6B728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结果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85800" y="749808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3E5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同说话人条件完整指标（124 条）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45920"/>
          <a:ext cx="10835640" cy="914400"/>
        </p:xfrm>
        <a:graphic>
          <a:graphicData uri="http://schemas.openxmlformats.org/drawingml/2006/table">
            <a:tbl>
              <a:tblPr/>
              <a:tblGrid>
                <a:gridCol w="3063240"/>
                <a:gridCol w="1325880"/>
                <a:gridCol w="1325880"/>
                <a:gridCol w="1234440"/>
                <a:gridCol w="1325880"/>
                <a:gridCol w="1325880"/>
                <a:gridCol w="123444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Heiti SC" pitchFamily="34" charset="0"/>
                          <a:ea typeface="Heiti SC" pitchFamily="34" charset="-122"/>
                          <a:cs typeface="Heiti SC" pitchFamily="34" charset="-120"/>
                        </a:rPr>
                        <a:t>系统</a:t>
                      </a:r>
                      <a:endParaRPr lang="en-US" sz="1250" dirty="0">
                        <a:latin typeface="Heiti SC" charset="0"/>
                        <a:ea typeface="Heiti SC" charset="0"/>
                        <a:cs typeface="Heiti S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Heiti SC" pitchFamily="34" charset="0"/>
                          <a:ea typeface="Heiti SC" pitchFamily="34" charset="-122"/>
                          <a:cs typeface="Heiti SC" pitchFamily="34" charset="-120"/>
                        </a:rPr>
                        <a:t>判定准确率</a:t>
                      </a:r>
                      <a:endParaRPr lang="en-US" sz="1250" dirty="0">
                        <a:latin typeface="Heiti SC" charset="0"/>
                        <a:ea typeface="Heiti SC" charset="0"/>
                        <a:cs typeface="Heiti S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Heiti SC" pitchFamily="34" charset="0"/>
                          <a:ea typeface="Heiti SC" pitchFamily="34" charset="-122"/>
                          <a:cs typeface="Heiti SC" pitchFamily="34" charset="-120"/>
                        </a:rPr>
                        <a:t>误收率 FAR</a:t>
                      </a:r>
                      <a:endParaRPr lang="en-US" sz="1250" dirty="0">
                        <a:latin typeface="Heiti SC" charset="0"/>
                        <a:ea typeface="Heiti SC" charset="0"/>
                        <a:cs typeface="Heiti S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Heiti SC" pitchFamily="34" charset="0"/>
                          <a:ea typeface="Heiti SC" pitchFamily="34" charset="-122"/>
                          <a:cs typeface="Heiti SC" pitchFamily="34" charset="-120"/>
                        </a:rPr>
                        <a:t>误拒率 FRR</a:t>
                      </a:r>
                      <a:endParaRPr lang="en-US" sz="1250" dirty="0">
                        <a:latin typeface="Heiti SC" charset="0"/>
                        <a:ea typeface="Heiti SC" charset="0"/>
                        <a:cs typeface="Heiti S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Heiti SC" pitchFamily="34" charset="0"/>
                          <a:ea typeface="Heiti SC" pitchFamily="34" charset="-122"/>
                          <a:cs typeface="Heiti SC" pitchFamily="34" charset="-120"/>
                        </a:rPr>
                        <a:t>声调识别率</a:t>
                      </a:r>
                      <a:endParaRPr lang="en-US" sz="1250" dirty="0">
                        <a:latin typeface="Heiti SC" charset="0"/>
                        <a:ea typeface="Heiti SC" charset="0"/>
                        <a:cs typeface="Heiti S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Heiti SC" pitchFamily="34" charset="0"/>
                          <a:ea typeface="Heiti SC" pitchFamily="34" charset="-122"/>
                          <a:cs typeface="Heiti SC" pitchFamily="34" charset="-120"/>
                        </a:rPr>
                        <a:t>错误定位率</a:t>
                      </a:r>
                      <a:endParaRPr lang="en-US" sz="1250" dirty="0">
                        <a:latin typeface="Heiti SC" charset="0"/>
                        <a:ea typeface="Heiti SC" charset="0"/>
                        <a:cs typeface="Heiti S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Heiti SC" pitchFamily="34" charset="0"/>
                          <a:ea typeface="Heiti SC" pitchFamily="34" charset="-122"/>
                          <a:cs typeface="Heiti SC" pitchFamily="34" charset="-120"/>
                        </a:rPr>
                        <a:t>中位延迟</a:t>
                      </a:r>
                      <a:endParaRPr lang="en-US" sz="1250" dirty="0">
                        <a:latin typeface="Heiti SC" charset="0"/>
                        <a:ea typeface="Heiti SC" charset="0"/>
                        <a:cs typeface="Heiti S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E5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D3E50"/>
                          </a:solidFill>
                          <a:latin typeface="Heiti SC" pitchFamily="34" charset="0"/>
                          <a:ea typeface="Heiti SC" pitchFamily="34" charset="-122"/>
                          <a:cs typeface="Heiti SC" pitchFamily="34" charset="-120"/>
                        </a:rPr>
                        <a:t>Omni open（不给文本）</a:t>
                      </a:r>
                      <a:endParaRPr lang="en-US" sz="1250" dirty="0">
                        <a:latin typeface="Heiti SC" charset="0"/>
                        <a:ea typeface="Heiti SC" charset="0"/>
                        <a:cs typeface="Heiti S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3E5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93.9%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F7D5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3.8%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3E5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11.1%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3E5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75.0%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3E5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89.5%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3E5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0.68s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D3E50"/>
                          </a:solidFill>
                          <a:latin typeface="Heiti SC" pitchFamily="34" charset="0"/>
                          <a:ea typeface="Heiti SC" pitchFamily="34" charset="-122"/>
                          <a:cs typeface="Heiti SC" pitchFamily="34" charset="-120"/>
                        </a:rPr>
                        <a:t>传统 CAPT</a:t>
                      </a:r>
                      <a:endParaRPr lang="en-US" sz="1250" dirty="0">
                        <a:latin typeface="Heiti SC" charset="0"/>
                        <a:ea typeface="Heiti SC" charset="0"/>
                        <a:cs typeface="Heiti S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3E5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88.7%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F7D5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6.0%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3E5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22.5%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3E5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69.0%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3E5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93.7%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3E5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0.01s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D3E50"/>
                          </a:solidFill>
                          <a:latin typeface="Heiti SC" pitchFamily="34" charset="0"/>
                          <a:ea typeface="Heiti SC" pitchFamily="34" charset="-122"/>
                          <a:cs typeface="Heiti SC" pitchFamily="34" charset="-120"/>
                        </a:rPr>
                        <a:t>Omni scripted（给文本）</a:t>
                      </a:r>
                      <a:endParaRPr lang="en-US" sz="1250" dirty="0">
                        <a:latin typeface="Heiti SC" charset="0"/>
                        <a:ea typeface="Heiti SC" charset="0"/>
                        <a:cs typeface="Heiti S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3E5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56.1%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23A33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50.0%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3E5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30.8%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3E5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23.3%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3E5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66.7%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3E5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1.19s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0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85800" y="4160520"/>
            <a:ext cx="10835640" cy="1828800"/>
          </a:xfrm>
          <a:prstGeom prst="roundRect">
            <a:avLst>
              <a:gd name="adj" fmla="val 4000"/>
            </a:avLst>
          </a:prstGeom>
          <a:solidFill>
            <a:srgbClr val="FDF3E2"/>
          </a:solidFill>
          <a:ln w="12700">
            <a:solidFill>
              <a:srgbClr val="EFD9A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05840" y="435254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6B1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怎么读这张表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05840" y="4681728"/>
            <a:ext cx="10195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B4A1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纯转写的 Omni 是这一轮最好的系统——准确率、误收率、声调识别三项都优于传统引擎。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B4A1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但一旦把目标文本写进提示词，它从最好掉到最差。同一个模型的两种用法，差距比两个模型的差距还大。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B4A1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传统引擎的强项是错误定位率（93.7%）——它不只知道错了，还知道错在声母、韵母还是声调。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98348"/>
            <a:ext cx="118872" cy="11887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905256" y="45720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160" kern="0" dirty="0">
                <a:solidFill>
                  <a:srgbClr val="6B728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实验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85800" y="749808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语言陷阱：0% → 100%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A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8 条整句：语境强烈预测某个词（我想吃水饺），音频实际说的是其最小对立伙伴（我想吃睡觉）。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20116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陷阱句误收率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39572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Omni open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971800" y="239572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F7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617720" y="239572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29B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不给目标文本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99923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Omni context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971800" y="299923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25.0%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17720" y="299923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29B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只给交际场景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3602736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Omni scripted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971800" y="360273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23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100.0%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617720" y="360273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29B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给出目标文本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" y="42062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传统 CAPT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971800" y="42062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F7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617720" y="42062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29B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自研声学引擎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949440" y="2011680"/>
            <a:ext cx="4617720" cy="2880360"/>
          </a:xfrm>
          <a:prstGeom prst="roundRect">
            <a:avLst>
              <a:gd name="adj" fmla="val 2540"/>
            </a:avLst>
          </a:prstGeom>
          <a:solidFill>
            <a:srgbClr val="23262C"/>
          </a:solidFill>
          <a:ln w="12700">
            <a:solidFill>
              <a:srgbClr val="3A3F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23760" y="22128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这条曲线说明什么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223760" y="2606040"/>
            <a:ext cx="4114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不给文本：全对。模型听到了替换，如实转写。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只给场景：放过 1/4。语义开始起作用。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给出文本：8 条全放过。提示词完全压倒了音频。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85800" y="52578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陷阱的强度随提示词给出的信息量单调上升。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98348"/>
            <a:ext cx="118872" cy="11887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905256" y="45720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160" kern="0" dirty="0">
                <a:solidFill>
                  <a:srgbClr val="6B728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工程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85800" y="749808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3E5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产品化的两条硬约束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173736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B23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70%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685800" y="26060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E5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声调一致率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87121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同一段音频、同一提示词，重复评测 3 次。判定一致率 80%。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92240" y="173736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B23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~100×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6492240" y="26060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E5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延迟差距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92240" y="287121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Omni 1.19s  vs  传统引擎 0.01s（中位，单条）。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3977640"/>
            <a:ext cx="108356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8DC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418795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3E5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对「跟读打分」意味着什么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51560" y="4553712"/>
            <a:ext cx="10149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75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D3E5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同一段录音两次评测给出不同分数，学习者会认为系统在随机打分——这是信任问题，不是精度问题</a:t>
            </a:r>
            <a:endParaRPr lang="en-US" sz="1250" dirty="0"/>
          </a:p>
          <a:p>
            <a:pPr marL="342900" indent="-342900">
              <a:lnSpc>
                <a:spcPts val="1875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D3E5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传统引擎是确定性数学映射，重复评测结果必然一致；Omni 是自回归采样，稳定性需要单独实测</a:t>
            </a:r>
            <a:endParaRPr lang="en-US" sz="1250" dirty="0"/>
          </a:p>
          <a:p>
            <a:pPr marL="342900" indent="-342900">
              <a:lnSpc>
                <a:spcPts val="1875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D3E5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秒级延迟 + 昂贵的音频 token，在高并发的跟读场景下成本效益比差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98348"/>
            <a:ext cx="118872" cy="11887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905256" y="45720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160" kern="0" dirty="0">
                <a:solidFill>
                  <a:srgbClr val="6B728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边界条件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85800" y="749808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3E5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换个说话人，传统引擎掉了 24 个点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14630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把 TTS 换成 Qwen（learner=Cherry，teacher=Ethan，真正的跨说话人）后重跑同一套语料。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201168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E5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同说话人 → 跨说话人 判定准确率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45059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D3E5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传统 CAPT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971800" y="245059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88.7%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114800" y="245059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480560" y="245059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64.5%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760720" y="245059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23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−24.2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85800" y="3108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D3E5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Omni open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971800" y="31089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93.9%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114800" y="31089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80560" y="31089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84.0%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760720" y="3108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−9.9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85800" y="37673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D3E5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Omni scripted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2971800" y="376732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56.1%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114800" y="376732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480560" y="376732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58.9%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760720" y="376732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F7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+2.8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675120" y="2395728"/>
            <a:ext cx="4892040" cy="3200400"/>
          </a:xfrm>
          <a:prstGeom prst="roundRect">
            <a:avLst>
              <a:gd name="adj" fmla="val 2286"/>
            </a:avLst>
          </a:prstGeom>
          <a:solidFill>
            <a:srgbClr val="FDF3E2"/>
          </a:solidFill>
          <a:ln w="12700">
            <a:solidFill>
              <a:srgbClr val="EFD9A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49440" y="259689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6B1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为什么掉这么多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949440" y="2962656"/>
            <a:ext cx="4389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6B4A1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传统引擎的声调原型是从 teacher 的正确读音拟合的。实测 teacher（Ethan）的孤立字：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6B4A1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T1 原型 3.5→2.9、T2 原型 1.9→2.0（几乎不升），且 T1 类内离散度 0.97。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6B4A1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原型本身是糊的，判定就散。参考发音不够标准时，「做 CT」的那一环就不准了。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85800" y="58064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D3E5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报告推荐的级联架构有一个没写出来的前提：参考发音必须足够标准。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98348"/>
            <a:ext cx="118872" cy="11887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905256" y="45720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160" kern="0" dirty="0">
                <a:solidFill>
                  <a:srgbClr val="6B728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结论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85800" y="749808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结论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16916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417320" y="1673352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语言陷阱被隔离出来了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417320" y="2020824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AA3A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同一模型、同一批音频，只因为提示词写了目标文本：误收率 3.8% → 50.0%，声调识别 75.0% → 23.3%。陷阱句上 0% → 100%。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85800" y="280720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417320" y="278892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问题不在模型，在提示词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417320" y="3136392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AA3A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纯转写的 Omni 准确率 93.9%，比传统引擎（88.7%）还高。模型听得很好——是提示词把它带偏了。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85800" y="392277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417320" y="390448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报告推荐的级联有前提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417320" y="425196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AA3A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参考发音本身不标准时，传统引擎跨说话人从 88.7% 掉到 64.5%。「做 CT」的那一环会先坏掉。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85800" y="503834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417320" y="5020056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选型看场景，不是看分数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417320" y="5367528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AA3A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高并发跟读打分：传统引擎（确定、毫秒级、定位准）。自由对话与错因解释：Omni。两者不是同一张考卷。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98348"/>
            <a:ext cx="118872" cy="11887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905256" y="45720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160" kern="0" dirty="0">
                <a:solidFill>
                  <a:srgbClr val="6B728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边界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85800" y="749808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3E5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局限与复现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1600200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23A3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这套数字不能说明什么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2011680"/>
            <a:ext cx="5852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75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D3E5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语料是 TTS 合成的干净范畴替换，不是真实学习者的连续渐变偏误</a:t>
            </a:r>
            <a:endParaRPr lang="en-US" sz="1250" dirty="0"/>
          </a:p>
          <a:p>
            <a:pPr marL="342900" indent="-342900">
              <a:lnSpc>
                <a:spcPts val="1875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D3E5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传统引擎是按报告自研的参考实现，绝对水平不代表讯飞 / SpeechSuper</a:t>
            </a:r>
            <a:endParaRPr lang="en-US" sz="1250" dirty="0"/>
          </a:p>
          <a:p>
            <a:pPr marL="342900" indent="-342900">
              <a:lnSpc>
                <a:spcPts val="1875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D3E5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跨说话人条件只测了一对音色（Cherry → Ethan），换音色结论可能变</a:t>
            </a:r>
            <a:endParaRPr lang="en-US" sz="1250" dirty="0"/>
          </a:p>
          <a:p>
            <a:pPr marL="342900" indent="-342900">
              <a:lnSpc>
                <a:spcPts val="1875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D3E5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context 档 n=8，样本量小，只作方向性参考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040880" y="16002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7D5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复现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040880" y="2011680"/>
            <a:ext cx="4480560" cy="2057400"/>
          </a:xfrm>
          <a:prstGeom prst="roundRect">
            <a:avLst>
              <a:gd name="adj" fmla="val 2667"/>
            </a:avLst>
          </a:prstGeom>
          <a:solidFill>
            <a:srgbClr val="1E2126"/>
          </a:solidFill>
          <a:ln w="12700">
            <a:solidFill>
              <a:srgbClr val="3338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69480" y="2194560"/>
            <a:ext cx="4114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sync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run captbench run \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--tts qwen \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--scorers traditional,omni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run pytest -q   # 101 passed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040880" y="4206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github.com/mutsunn1/benchmark-audiotest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457200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EDF3EE"/>
          </a:solidFill>
          <a:ln w="12700">
            <a:solidFill>
              <a:srgbClr val="C8DC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4754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45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一句话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507492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35594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调研报告关于「语言先验导致漏检」的判断得到了量化验证，而且比报告的估计更严重——在陷阱句上它是 100%，不是「漏检率上升」。但补救办法可能比报告设想的简单：问题出在提示词，不在模型。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中文口语评测基准：传统 CAPT vs Qwen-Omni</dc:title>
  <dc:subject>PptxGenJS Presentation</dc:subject>
  <dc:creator>captbench</dc:creator>
  <cp:lastModifiedBy>captbench</cp:lastModifiedBy>
  <cp:revision>1</cp:revision>
  <dcterms:created xsi:type="dcterms:W3CDTF">2026-09-16T10:22:08Z</dcterms:created>
  <dcterms:modified xsi:type="dcterms:W3CDTF">2026-09-16T10:22:08Z</dcterms:modified>
</cp:coreProperties>
</file>